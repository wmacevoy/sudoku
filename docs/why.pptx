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Adults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Selective attention</c:v>
                </c:pt>
                <c:pt idx="1">
                  <c:v>Working memory</c:v>
                </c:pt>
                <c:pt idx="2">
                  <c:v>Creativity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0</c:v>
                </c:pt>
                <c:pt idx="2">
                  <c:v>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C9-D64B-9784-9B250DF5DF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Children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Selective attention</c:v>
                </c:pt>
                <c:pt idx="1">
                  <c:v>Working memory</c:v>
                </c:pt>
                <c:pt idx="2">
                  <c:v>Creativity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-5</c:v>
                </c:pt>
                <c:pt idx="2">
                  <c:v>-10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C9-D64B-9784-9B250DF5DF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Pre‑COVID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Reading</c:v>
                </c:pt>
                <c:pt idx="1">
                  <c:v>Math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260</c:v>
                </c:pt>
                <c:pt idx="1">
                  <c:v>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6D43-9578-8EEA465CC4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Post‑COVID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Reading</c:v>
                </c:pt>
                <c:pt idx="1">
                  <c:v>Math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256</c:v>
                </c:pt>
                <c:pt idx="1">
                  <c:v>279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6D43-9578-8EEA465CC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1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e74million.org/article/exclusive-study-finds-covid-harmed-cognitive-skills-of-students-and-teachers/" TargetMode="External"/><Relationship Id="rId3" Type="http://schemas.openxmlformats.org/officeDocument/2006/relationships/hyperlink" Target="https://www.scientificamerican.com/article/people-pay-attention-better-today-than-30-years-ago-really/" TargetMode="External"/><Relationship Id="rId7" Type="http://schemas.openxmlformats.org/officeDocument/2006/relationships/hyperlink" Target="https://www.theswaddle.com/being-glued-to-smartphones-can-curb-creativity-research-show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ews.utexas.edu/2017/06/26/the-mere-presence-of-your-smartphone-reduces-brain-power/" TargetMode="External"/><Relationship Id="rId11" Type="http://schemas.openxmlformats.org/officeDocument/2006/relationships/hyperlink" Target="https://www.sciencedaily.com/releases/2019/05/190516082349.htm" TargetMode="External"/><Relationship Id="rId5" Type="http://schemas.openxmlformats.org/officeDocument/2006/relationships/hyperlink" Target="https://www.newsweek.com/creativity-crisis-74665" TargetMode="External"/><Relationship Id="rId10" Type="http://schemas.openxmlformats.org/officeDocument/2006/relationships/hyperlink" Target="https://pmc.ncbi.nlm.nih.gov/articles/PMC7718610/" TargetMode="External"/><Relationship Id="rId4" Type="http://schemas.openxmlformats.org/officeDocument/2006/relationships/hyperlink" Target="https://www.kcl.ac.uk/archive/news/ioppn/records/2017/september/aspects-of-intelligence-may-be-declining" TargetMode="External"/><Relationship Id="rId9" Type="http://schemas.openxmlformats.org/officeDocument/2006/relationships/hyperlink" Target="https://phys.org/news/2025-01-ai-linked-eroding-critical-skills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newsweek.com/creativity-crisis-74665" TargetMode="External"/><Relationship Id="rId5" Type="http://schemas.openxmlformats.org/officeDocument/2006/relationships/hyperlink" Target="https://www.kcl.ac.uk/archive/news/ioppn/records/2017/september/aspects-of-intelligence-may-be-declining" TargetMode="External"/><Relationship Id="rId4" Type="http://schemas.openxmlformats.org/officeDocument/2006/relationships/hyperlink" Target="https://www.scientificamerican.com/article/people-pay-attention-better-today-than-30-years-ago-really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utexas.edu/2017/06/26/the-mere-presence-of-your-smartphone-reduces-brain-power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ys.org/news/2025-01-ai-linked-eroding-critical-skills.html" TargetMode="External"/><Relationship Id="rId4" Type="http://schemas.openxmlformats.org/officeDocument/2006/relationships/hyperlink" Target="https://www.theswaddle.com/being-glued-to-smartphones-can-curb-creativity-research-show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chalkbeat.org/2023/6/21/23767632/naep-math-reading-learning-loss-covid-long-term-trend/" TargetMode="External"/><Relationship Id="rId4" Type="http://schemas.openxmlformats.org/officeDocument/2006/relationships/hyperlink" Target="https://www.the74million.org/article/exclusive-study-finds-covid-harmed-cognitive-skills-of-students-and-teacher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771861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ciencedaily.com/releases/2019/05/190516082349.htm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tificamerican.com/article/people-pay-attention-better-today-than-30-years-ago-really/" TargetMode="External"/><Relationship Id="rId7" Type="http://schemas.openxmlformats.org/officeDocument/2006/relationships/hyperlink" Target="https://www.sciencedaily.com/releases/2019/05/190516082349.ht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mc.ncbi.nlm.nih.gov/articles/PMC7718610/" TargetMode="External"/><Relationship Id="rId5" Type="http://schemas.openxmlformats.org/officeDocument/2006/relationships/hyperlink" Target="https://www.newsweek.com/creativity-crisis-74665" TargetMode="External"/><Relationship Id="rId4" Type="http://schemas.openxmlformats.org/officeDocument/2006/relationships/hyperlink" Target="https://www.kcl.ac.uk/archive/news/ioppn/records/2017/september/aspects-of-intelligence-may-be-declinin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tificamerican.com/article/people-pay-attention-better-today-than-30-years-ago-really/" TargetMode="External"/><Relationship Id="rId7" Type="http://schemas.openxmlformats.org/officeDocument/2006/relationships/hyperlink" Target="https://www.theswaddle.com/being-glued-to-smartphones-can-curb-creativity-research-show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ews.utexas.edu/2017/06/26/the-mere-presence-of-your-smartphone-reduces-brain-power/" TargetMode="External"/><Relationship Id="rId5" Type="http://schemas.openxmlformats.org/officeDocument/2006/relationships/hyperlink" Target="https://www.newsweek.com/creativity-crisis-74665" TargetMode="External"/><Relationship Id="rId4" Type="http://schemas.openxmlformats.org/officeDocument/2006/relationships/hyperlink" Target="https://www.kcl.ac.uk/archive/news/ioppn/records/2017/september/aspects-of-intelligence-may-be-declinin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74million.org/article/exclusive-study-finds-covid-harmed-cognitive-skills-of-students-and-teachers/" TargetMode="External"/><Relationship Id="rId7" Type="http://schemas.openxmlformats.org/officeDocument/2006/relationships/hyperlink" Target="https://www.sciencedaily.com/releases/2019/05/190516082349.ht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mc.ncbi.nlm.nih.gov/articles/PMC7718610/" TargetMode="External"/><Relationship Id="rId5" Type="http://schemas.openxmlformats.org/officeDocument/2006/relationships/hyperlink" Target="https://www.chalkbeat.org/2023/6/21/23767632/naep-math-reading-learning-loss-covid-long-term-trend/" TargetMode="External"/><Relationship Id="rId4" Type="http://schemas.openxmlformats.org/officeDocument/2006/relationships/hyperlink" Target="https://phys.org/news/2025-01-ai-linked-eroding-critical-skill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30A18"/>
                </a:solidFill>
              </a:rPr>
              <a:t>Cognitive Measurements
Over Time
</a:t>
            </a:r>
            <a:r>
              <a:rPr lang="en-US" sz="2100" dirty="0">
                <a:solidFill>
                  <a:srgbClr val="030A18"/>
                </a:solidFill>
              </a:rPr>
              <a:t>Students and Digital Distractions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31089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30A18"/>
                </a:solidFill>
              </a:rPr>
              <a:t>Assessing attention, memory, reasoning and creativity in the age of smartphones, pandemic and LLMs
</a:t>
            </a:r>
            <a:r>
              <a:rPr lang="en-US" sz="1600" b="1" dirty="0">
                <a:solidFill>
                  <a:srgbClr val="030A18"/>
                </a:solidFill>
              </a:rPr>
              <a:t>Sudoku Contest Proposal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034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October 22, 2025</a:t>
            </a:r>
            <a:endParaRPr lang="en-US" sz="1200" dirty="0"/>
          </a:p>
        </p:txBody>
      </p:sp>
      <p:pic>
        <p:nvPicPr>
          <p:cNvPr id="5" name="Image 0" descr="/home/oai/share/f1294b98-5283-4eae-a705-b06da086e59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73152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• Cognitive Trends:
</a:t>
            </a:r>
            <a:r>
              <a:rPr lang="en-US" sz="1200" dirty="0">
                <a:solidFill>
                  <a:srgbClr val="030A18"/>
                </a:solidFill>
              </a:rPr>
              <a:t>  • Selective attention has improved slightly in adults but stagnated for children; working memory capacity shows little change; creativity scores have declined since 1990.
</a:t>
            </a:r>
            <a:r>
              <a:rPr lang="en-US" sz="1600" b="1" dirty="0">
                <a:solidFill>
                  <a:srgbClr val="030A18"/>
                </a:solidFill>
              </a:rPr>
              <a:t>• Drivers of Cognitive Decline:
</a:t>
            </a:r>
            <a:r>
              <a:rPr lang="en-US" sz="1200" dirty="0">
                <a:solidFill>
                  <a:srgbClr val="030A18"/>
                </a:solidFill>
              </a:rPr>
              <a:t>  • Digital distractions: the mere presence of a smartphone drains cognitive resources; smartphone addiction reduces creativity and fosters negative emotions.
  • Pandemic disruption: COVID‑19 has impaired memory and flexible thinking and precipitated dramatic declines in student math and reading scores.
  • Overreliance on AI: large language models encourage fast heuristics and reduce deep reasoning when users outsource thinking.
</a:t>
            </a:r>
            <a:r>
              <a:rPr lang="en-US" sz="1600" b="1" dirty="0">
                <a:solidFill>
                  <a:srgbClr val="030A18"/>
                </a:solidFill>
              </a:rPr>
              <a:t>• Solution:
</a:t>
            </a:r>
            <a:r>
              <a:rPr lang="en-US" sz="1200" dirty="0">
                <a:solidFill>
                  <a:srgbClr val="030A18"/>
                </a:solidFill>
              </a:rPr>
              <a:t>  • Logical puzzles such as Sudoku engage the prefrontal cortex, improve attention, reasoning and memory, and can roll back cognitive age by 8–10 years. A team‑based contest draws students off their phones and strengthens communication and problem‑solving skills.
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Trends Over Time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463040"/>
          <a:ext cx="45720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 rot="-5400000">
            <a:off x="45720" y="1737360"/>
            <a:ext cx="914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30A18"/>
                </a:solidFill>
              </a:rPr>
              <a:t>Relative change since 1990 (%)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486400" y="14630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Generational patterns:
</a:t>
            </a:r>
            <a:r>
              <a:rPr lang="en-US" sz="1200" dirty="0">
                <a:solidFill>
                  <a:srgbClr val="030A18"/>
                </a:solidFill>
              </a:rPr>
              <a:t>• Adults show modest gains in selective attention.
• Children’s attention speed improved but errors increased.
• Working memory capacity has stagnated across cohorts.
• Creativity scores have fallen especially among younger learners.
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Distractions &amp; Impact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20116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0A18"/>
                          </a:solidFill>
                        </a:rPr>
                        <a:t>Factor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0A18"/>
                          </a:solidFill>
                        </a:rPr>
                        <a:t>Cognitive Impact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0A18"/>
                          </a:solidFill>
                        </a:rPr>
                        <a:t>Evidence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Smartphone presence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Reduces available cognitive capacity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Mere presence drains brain power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Smartphone addiction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Lowers creativity, raises stress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Creativity mediated by negative emotion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AI / LLM overreliance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Encourages fast heuristics, reduces critical thinking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Users outsource reasoning to the tool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Smartphones and AI are double‑edged swords:
</a:t>
            </a:r>
            <a:r>
              <a:rPr lang="en-US" sz="1200" dirty="0">
                <a:solidFill>
                  <a:srgbClr val="030A18"/>
                </a:solidFill>
              </a:rPr>
              <a:t>They connect us but also fragment attention, offload memory, and erode creativity. Our brains adapt to the environment we inhabit—if we constantly multitask, we sacrifice depth for speed.
</a:t>
            </a:r>
            <a:endParaRPr lang="en-US" sz="1600" dirty="0"/>
          </a:p>
        </p:txBody>
      </p:sp>
      <p:sp>
        <p:nvSpPr>
          <p:cNvPr id="3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[13]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[14]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[15]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Pandemic Disruptions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 rot="-5400000">
            <a:off x="45720" y="1645920"/>
            <a:ext cx="914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30A18"/>
                </a:solidFill>
              </a:rPr>
              <a:t>Average NAEP score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30A18"/>
                </a:solidFill>
              </a:rPr>
              <a:t>(0–500)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846320" y="146304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COVID‑19’s toll:
</a:t>
            </a:r>
            <a:r>
              <a:rPr lang="en-US" sz="1200" dirty="0">
                <a:solidFill>
                  <a:srgbClr val="030A18"/>
                </a:solidFill>
              </a:rPr>
              <a:t>• Students’ memory and flexible thinking weakened; 8–13‑year‑olds saw the largest declines.
• Average math and reading scores regressed to early 1990s levels, erasing decades of progress.
• Teachers also experienced declines in verbal memory and flexible thinking, contributing to burnout.
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[16]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[17]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Sudoku &amp; Cognitive Resilience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2468880" cy="2468880"/>
          </a:xfrm>
          <a:prstGeom prst="rect">
            <a:avLst/>
          </a:prstGeom>
          <a:solidFill>
            <a:srgbClr val="F7F9FC"/>
          </a:solidFill>
          <a:ln w="1905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554480" y="1554480"/>
            <a:ext cx="0" cy="2468880"/>
          </a:xfrm>
          <a:prstGeom prst="line">
            <a:avLst/>
          </a:prstGeom>
          <a:noFill/>
          <a:ln w="1016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468880" cy="0"/>
          </a:xfrm>
          <a:prstGeom prst="line">
            <a:avLst/>
          </a:prstGeom>
          <a:noFill/>
          <a:ln w="1016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377440" y="1554480"/>
            <a:ext cx="0" cy="2468880"/>
          </a:xfrm>
          <a:prstGeom prst="line">
            <a:avLst/>
          </a:prstGeom>
          <a:noFill/>
          <a:ln w="1016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468880" cy="0"/>
          </a:xfrm>
          <a:prstGeom prst="line">
            <a:avLst/>
          </a:prstGeom>
          <a:noFill/>
          <a:ln w="1016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0A18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0A18"/>
                </a:solidFill>
              </a:rPr>
              <a:t> 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7744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0A18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0A18"/>
                </a:solidFill>
              </a:rPr>
              <a:t> 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0A18"/>
                </a:solidFill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0A18"/>
                </a:solidFill>
              </a:rPr>
              <a:t> 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0A18"/>
                </a:solidFill>
              </a:rPr>
              <a:t>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0A18"/>
                </a:solidFill>
              </a:rPr>
              <a:t> 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7744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0A18"/>
                </a:solidFill>
              </a:rPr>
              <a:t>9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0" y="15544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Puzzles as mental training:
</a:t>
            </a:r>
            <a:r>
              <a:rPr lang="en-US" sz="1200" dirty="0">
                <a:solidFill>
                  <a:srgbClr val="030A18"/>
                </a:solidFill>
              </a:rPr>
              <a:t>• Sudoku activates the prefrontal cortex and is used in cognitive remediation training.
• Regular puzzle players perform 8–10 years younger in attention, reasoning and memory tasks.
• Starting from a higher baseline may not halt decline, but it raises cognitive reserve.
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[18]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[19]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&amp; Teamwork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4630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417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Face‑to‑face communication
</a:t>
            </a:r>
            <a:r>
              <a:rPr lang="en-US" sz="1200" dirty="0">
                <a:solidFill>
                  <a:srgbClr val="030A18"/>
                </a:solidFill>
              </a:rPr>
              <a:t>Two minds work together to verbalise reasoning, ask clarifying questions and catch errors.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10312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2057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Shared strategies
</a:t>
            </a:r>
            <a:r>
              <a:rPr lang="en-US" sz="1200" dirty="0">
                <a:solidFill>
                  <a:srgbClr val="030A18"/>
                </a:solidFill>
              </a:rPr>
              <a:t>Partners can split tasks (pattern scanning vs. number placement) and develop joint heuristics.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274320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0120" y="2697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Enhanced creativity
</a:t>
            </a:r>
            <a:r>
              <a:rPr lang="en-US" sz="1200" dirty="0">
                <a:solidFill>
                  <a:srgbClr val="030A18"/>
                </a:solidFill>
              </a:rPr>
              <a:t>Group play triggers idea recombination and diversifies approaches, yielding novel insights.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Sudoku Contest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DDEBF7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0A18"/>
                </a:solidFill>
              </a:rPr>
              <a:t>Easy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29384" y="1988820"/>
            <a:ext cx="274320" cy="32004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DDEBF7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10312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0A18"/>
                </a:solidFill>
              </a:rPr>
              <a:t>Medium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75304" y="1988820"/>
            <a:ext cx="274320" cy="32004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DDEBF7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74904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0A18"/>
                </a:solidFill>
              </a:rPr>
              <a:t>Hard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21224" y="1988820"/>
            <a:ext cx="274320" cy="32004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394960" y="18288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DDEBF7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9496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0A18"/>
                </a:solidFill>
              </a:rPr>
              <a:t>Expert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Rules &amp; Logistics:
</a:t>
            </a:r>
            <a:r>
              <a:rPr lang="en-US" sz="1200" dirty="0">
                <a:solidFill>
                  <a:srgbClr val="030A18"/>
                </a:solidFill>
              </a:rPr>
              <a:t>• Two‑person teams solve puzzles sequentially; each correct submission unlocks the next level.
• Incorrect solutions incur a 20‑minute penalty, emulating the ICPC scoring system.
• Puzzles increase in difficulty; no phones or digital aids are allowed.
• A scoreboard tracks progress, encouraging focus and friendly competition.
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65760" cy="365760"/>
          </a:xfrm>
          <a:prstGeom prst="ellipse">
            <a:avLst/>
          </a:prstGeom>
          <a:solidFill>
            <a:srgbClr val="C5E0B4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0A18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600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Curate puzzles
</a:t>
            </a:r>
            <a:r>
              <a:rPr lang="en-US" sz="1200" dirty="0">
                <a:solidFill>
                  <a:srgbClr val="030A18"/>
                </a:solidFill>
              </a:rPr>
              <a:t>Select a series of Sudoku puzzles with increasing difficulty and print enough copies for all teams.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C5E0B4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0A18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Form teams &amp; schedule
</a:t>
            </a:r>
            <a:r>
              <a:rPr lang="en-US" sz="1200" dirty="0">
                <a:solidFill>
                  <a:srgbClr val="030A18"/>
                </a:solidFill>
              </a:rPr>
              <a:t>Pair students randomly or allow self‑selection; choose a day and venue that encourage in‑person participation.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C5E0B4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0A18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880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Brief participants
</a:t>
            </a:r>
            <a:r>
              <a:rPr lang="en-US" sz="1200" dirty="0">
                <a:solidFill>
                  <a:srgbClr val="030A18"/>
                </a:solidFill>
              </a:rPr>
              <a:t>Explain rules, scoring, penalty system and emphasise no‑phone policy.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5E0B4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0A18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Run contest
</a:t>
            </a:r>
            <a:r>
              <a:rPr lang="en-US" sz="1200" dirty="0">
                <a:solidFill>
                  <a:srgbClr val="030A18"/>
                </a:solidFill>
              </a:rPr>
              <a:t>Distribute puzzles sequentially; monitor submissions and penalties; update a public scoreboard.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365760" cy="365760"/>
          </a:xfrm>
          <a:prstGeom prst="ellipse">
            <a:avLst/>
          </a:prstGeom>
          <a:solidFill>
            <a:srgbClr val="C5E0B4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0A18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Debrief &amp; reward
</a:t>
            </a:r>
            <a:r>
              <a:rPr lang="en-US" sz="1200" dirty="0">
                <a:solidFill>
                  <a:srgbClr val="030A18"/>
                </a:solidFill>
              </a:rPr>
              <a:t>Review strategies, share insights and celebrate winners; gather feedback for future iterations.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Call to 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Key takeaways:
</a:t>
            </a:r>
            <a:r>
              <a:rPr lang="en-US" sz="1200" dirty="0">
                <a:solidFill>
                  <a:srgbClr val="030A18"/>
                </a:solidFill>
              </a:rPr>
              <a:t>• Our students are immersed in a digital environment that fragments attention and diminishes memory and creativity.
• Generational trends show stagnating working memory and declining creativity—especially among younger cohorts.
• Logical puzzles like Sudoku offer an accessible way to exercise the brain, rebuild focus and foster collaborative problem solving.
• A team‑based Sudoku contest is inexpensive, easy to implement and can spark a culture of mindful, in‑person engagement.
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Next steps:
</a:t>
            </a:r>
            <a:r>
              <a:rPr lang="en-US" sz="1200" dirty="0">
                <a:solidFill>
                  <a:srgbClr val="030A18"/>
                </a:solidFill>
              </a:rPr>
              <a:t>1. Share these insights with fellow educators and administrators.
2. Pilot a Sudoku contest in your classroom or department.
3. Gather feedback from participants and iterate on the format.
4. Advocate for broader adoption as part of a cognitive wellness strategy.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[27]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[28]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[29]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[30]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[31]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Summaries (1/2)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200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0A18"/>
                          </a:solidFill>
                        </a:rPr>
                        <a:t>Reference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0A18"/>
                          </a:solidFill>
                        </a:rPr>
                        <a:t>Key finding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Scientific American – People Pay Attention Better Today Than 30 Years Ago—Really. (Christiane Gelitz, Nov 8, 2023)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Adults’ selective attention improved; children worked faster but made more errors.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King’s College London – Aspects of Intelligence May Be Declining (Research News, Sep 2017)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Working memory has decreased since the 1980s, an anti‑Flynn effect.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Newsweek – The Creativity Crisis (Po Bronson &amp; Ashley Merryman, Jul 10, 2010)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Creativity scores have fallen since 1990; biggest declines among young children.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UT Austin – The Mere Presence of Your Smartphone Reduces Brain Power (UT News, Jun 26, 2017)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Mere smartphone presence drains cognitive capacity; leaving phones in another room improves performance.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The Swaddle – Being Glued to Smartphones Can Curb Creativity (Devrupa Rakshit, Dec 5, 2022)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Smartphone addiction suppresses creativity and reduces prefrontal cortex activity.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Summaries (2/2)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200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0A18"/>
                          </a:solidFill>
                        </a:rPr>
                        <a:t>Reference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30A18"/>
                          </a:solidFill>
                        </a:rPr>
                        <a:t>Key finding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The 74 – Study Finds COVID Harmed Cognitive Skills of Students and Teachers (Greg Toppo, Sep 18, 2024)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COVID‑19 weakened memory and flexible thinking across students; biggest declines among 8–13‑year‑olds and low‑income children; teachers also affected.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Phys.org – Increased AI Use Linked to Eroding Critical Thinking Skills (Justin Jackson, Jan 13, 2025)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Frequent AI tool usage is correlated with weaker critical thinking due to cognitive offloading, especially among young people.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Chalkbeat – Latest National Test Results Show Striking Drop in 13‑Year‑Olds’ Math and Reading Scores (Matt Barnum, Jun 20, 2023)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NAEP reading scores for 13‑year‑olds fell to 1971 levels and math scores to 1992 levels, reflecting a striking collapse since 2012.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Translational Neuroscience – Role of Prefrontal Cortex During Sudoku Task: fNIRS Study (Patil Ashlesh et al., 2020)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Solving Sudoku activates medial and lateral prefrontal cortex; suggested for cognitive remediation training.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ScienceDaily – Regular Crosswords and Number Puzzles Linked to Sharper Brain in Later Life (University of Exeter, May 16, 2019)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Regular crosswords and number puzzles are linked to brain function 8–10 years younger; puzzles improve reasoning, attention and memory but may not prevent dementia.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u="sng" dirty="0">
                          <a:solidFill>
                            <a:srgbClr val="0070C0"/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ScienceDaily – Puzzle Benefits May Not Guarantee Long‑Term Protection (2019)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</a:rPr>
                        <a:t>Puzzles raise cognitive reserve but are not a guaranteed shield against long‑term decline.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1418</Words>
  <Application>Microsoft Macintosh PowerPoint</Application>
  <PresentationFormat>On-screen Show (16:9)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MacEvoy, Warren</cp:lastModifiedBy>
  <cp:revision>2</cp:revision>
  <dcterms:created xsi:type="dcterms:W3CDTF">2025-10-22T15:10:43Z</dcterms:created>
  <dcterms:modified xsi:type="dcterms:W3CDTF">2025-10-22T15:45:07Z</dcterms:modified>
</cp:coreProperties>
</file>